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926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BBA66-E95C-A2E3-BC90-D87306D19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C4102-6D33-1AE5-4AF6-5EFCA727C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A641C0-5777-4D91-0D70-2BFE559FA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E0648-D7D9-0B93-D854-D620D2BE9E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847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914400"/>
            <a:ext cx="1463040" cy="548640"/>
          </a:xfrm>
          <a:prstGeom prst="line">
            <a:avLst/>
          </a:prstGeom>
          <a:noFill/>
          <a:ln w="15875">
            <a:solidFill>
              <a:srgbClr val="3140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8778240" y="914400"/>
            <a:ext cx="548640" cy="1280160"/>
          </a:xfrm>
          <a:prstGeom prst="line">
            <a:avLst/>
          </a:prstGeom>
          <a:noFill/>
          <a:ln w="15875">
            <a:solidFill>
              <a:srgbClr val="3140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424160" y="1463040"/>
            <a:ext cx="365760" cy="1371600"/>
          </a:xfrm>
          <a:prstGeom prst="line">
            <a:avLst/>
          </a:prstGeom>
          <a:noFill/>
          <a:ln w="15875">
            <a:solidFill>
              <a:srgbClr val="3140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2194560"/>
            <a:ext cx="1645920" cy="640080"/>
          </a:xfrm>
          <a:prstGeom prst="line">
            <a:avLst/>
          </a:prstGeom>
          <a:noFill/>
          <a:ln w="15875">
            <a:solidFill>
              <a:srgbClr val="3140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424160" y="2011680"/>
            <a:ext cx="1097280" cy="822960"/>
          </a:xfrm>
          <a:prstGeom prst="line">
            <a:avLst/>
          </a:prstGeom>
          <a:noFill/>
          <a:ln w="15875">
            <a:solidFill>
              <a:srgbClr val="3140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2194560"/>
            <a:ext cx="731520" cy="1463040"/>
          </a:xfrm>
          <a:prstGeom prst="line">
            <a:avLst/>
          </a:prstGeom>
          <a:noFill/>
          <a:ln w="15875">
            <a:solidFill>
              <a:srgbClr val="3140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24160" y="2834640"/>
            <a:ext cx="731520" cy="1188720"/>
          </a:xfrm>
          <a:prstGeom prst="line">
            <a:avLst/>
          </a:prstGeom>
          <a:noFill/>
          <a:ln w="15875">
            <a:solidFill>
              <a:srgbClr val="3140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0" y="3657600"/>
            <a:ext cx="1645920" cy="365760"/>
          </a:xfrm>
          <a:prstGeom prst="line">
            <a:avLst/>
          </a:prstGeom>
          <a:noFill/>
          <a:ln w="15875">
            <a:solidFill>
              <a:srgbClr val="3140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8595360" y="3657600"/>
            <a:ext cx="914400" cy="822960"/>
          </a:xfrm>
          <a:prstGeom prst="line">
            <a:avLst/>
          </a:prstGeom>
          <a:noFill/>
          <a:ln w="15875">
            <a:solidFill>
              <a:srgbClr val="3140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241280" y="4023360"/>
            <a:ext cx="914400" cy="1097280"/>
          </a:xfrm>
          <a:prstGeom prst="line">
            <a:avLst/>
          </a:prstGeom>
          <a:noFill/>
          <a:ln w="15875">
            <a:solidFill>
              <a:srgbClr val="3140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0" y="4480560"/>
            <a:ext cx="1645920" cy="640080"/>
          </a:xfrm>
          <a:prstGeom prst="line">
            <a:avLst/>
          </a:prstGeom>
          <a:noFill/>
          <a:ln w="15875">
            <a:solidFill>
              <a:srgbClr val="3140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0" y="5120640"/>
            <a:ext cx="1280160" cy="274320"/>
          </a:xfrm>
          <a:prstGeom prst="line">
            <a:avLst/>
          </a:prstGeom>
          <a:noFill/>
          <a:ln w="15875">
            <a:solidFill>
              <a:srgbClr val="3140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0" y="4480560"/>
            <a:ext cx="548640" cy="1371600"/>
          </a:xfrm>
          <a:prstGeom prst="line">
            <a:avLst/>
          </a:prstGeom>
          <a:noFill/>
          <a:ln w="15875">
            <a:solidFill>
              <a:srgbClr val="3140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9144000" y="5394960"/>
            <a:ext cx="2377440" cy="457200"/>
          </a:xfrm>
          <a:prstGeom prst="line">
            <a:avLst/>
          </a:prstGeom>
          <a:noFill/>
          <a:ln w="15875">
            <a:solidFill>
              <a:srgbClr val="3140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72016" y="859536"/>
            <a:ext cx="109728" cy="10972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35056" y="1408176"/>
            <a:ext cx="109728" cy="10972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23376" y="2139696"/>
            <a:ext cx="109728" cy="10972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69296" y="2779776"/>
            <a:ext cx="109728" cy="10972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66576" y="1956816"/>
            <a:ext cx="109728" cy="10972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54896" y="3602736"/>
            <a:ext cx="109728" cy="10972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100816" y="3968496"/>
            <a:ext cx="109728" cy="10972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40496" y="4425696"/>
            <a:ext cx="109728" cy="10972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86416" y="5065776"/>
            <a:ext cx="109728" cy="10972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66576" y="5340096"/>
            <a:ext cx="109728" cy="10972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89136" y="5797296"/>
            <a:ext cx="109728" cy="10972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196596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REDUNDANT MULTI-FLOOR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640080" y="25786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CAMPUS NETWORK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640080" y="3520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Implementation, Security &amp; Verification using Cisco Packet Tracer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080" y="4343400"/>
            <a:ext cx="7863840" cy="1920240"/>
          </a:xfrm>
          <a:prstGeom prst="roundRect">
            <a:avLst>
              <a:gd name="adj" fmla="val 2857"/>
            </a:avLst>
          </a:prstGeom>
          <a:solidFill>
            <a:srgbClr val="162055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572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4818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 Gaidhane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" y="51389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" y="53858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Vaibhav Mule, Tejas Bargal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8680" y="57058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68680" y="5952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NextGen Education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0" y="4572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By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0" y="4818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Harish Sir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0" y="51389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0" y="53858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Project — 3 Members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PROJECT • NEXTGEN EDUCATION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94960" cy="5029200"/>
          </a:xfrm>
          <a:prstGeom prst="roundRect">
            <a:avLst>
              <a:gd name="adj" fmla="val 1091"/>
            </a:avLst>
          </a:prstGeom>
          <a:solidFill>
            <a:srgbClr val="E9F0FC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361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139696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" y="1984248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campus networks can suffer from single points of failure.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825496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8136" y="2670048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departments require network segmentation.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511296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8136" y="3355848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communication must remain available during link/device failures.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197096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" y="4041648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management must be secure.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882896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8136" y="4727448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should be centrally managed.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5568696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136" y="5413248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must be controlled using security policies.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1325880"/>
            <a:ext cx="5422392" cy="5029200"/>
          </a:xfrm>
          <a:prstGeom prst="roundRect">
            <a:avLst>
              <a:gd name="adj" fmla="val 1091"/>
            </a:avLst>
          </a:prstGeom>
          <a:solidFill>
            <a:srgbClr val="F3F7FE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5361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92240" y="2103120"/>
            <a:ext cx="2423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01968" y="221284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1968" y="2212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16" dirty="0"/>
          </a:p>
        </p:txBody>
      </p:sp>
      <p:sp>
        <p:nvSpPr>
          <p:cNvPr id="23" name="Text 21"/>
          <p:cNvSpPr/>
          <p:nvPr/>
        </p:nvSpPr>
        <p:spPr>
          <a:xfrm>
            <a:off x="6949440" y="2157984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VLAN-based segmentation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098280" y="2103120"/>
            <a:ext cx="2423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08008" y="221284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08008" y="2212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16" dirty="0"/>
          </a:p>
        </p:txBody>
      </p:sp>
      <p:sp>
        <p:nvSpPr>
          <p:cNvPr id="27" name="Text 25"/>
          <p:cNvSpPr/>
          <p:nvPr/>
        </p:nvSpPr>
        <p:spPr>
          <a:xfrm>
            <a:off x="9555480" y="2157984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inter-VLAN communication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92240" y="2944368"/>
            <a:ext cx="2423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01968" y="305409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01968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16" dirty="0"/>
          </a:p>
        </p:txBody>
      </p:sp>
      <p:sp>
        <p:nvSpPr>
          <p:cNvPr id="31" name="Text 29"/>
          <p:cNvSpPr/>
          <p:nvPr/>
        </p:nvSpPr>
        <p:spPr>
          <a:xfrm>
            <a:off x="6949440" y="299923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gateway redundancy using HSRP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098280" y="2944368"/>
            <a:ext cx="2423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08008" y="305409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08008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16" dirty="0"/>
          </a:p>
        </p:txBody>
      </p:sp>
      <p:sp>
        <p:nvSpPr>
          <p:cNvPr id="35" name="Text 33"/>
          <p:cNvSpPr/>
          <p:nvPr/>
        </p:nvSpPr>
        <p:spPr>
          <a:xfrm>
            <a:off x="9555480" y="299923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dynamic routing using OSPF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92240" y="3785616"/>
            <a:ext cx="2423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01968" y="389534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01968" y="3895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16" dirty="0"/>
          </a:p>
        </p:txBody>
      </p:sp>
      <p:sp>
        <p:nvSpPr>
          <p:cNvPr id="39" name="Text 37"/>
          <p:cNvSpPr/>
          <p:nvPr/>
        </p:nvSpPr>
        <p:spPr>
          <a:xfrm>
            <a:off x="6949440" y="384048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link aggregation (EtherChannel/LACP)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098280" y="3785616"/>
            <a:ext cx="2423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08008" y="389534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08008" y="3895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16" dirty="0"/>
          </a:p>
        </p:txBody>
      </p:sp>
      <p:sp>
        <p:nvSpPr>
          <p:cNvPr id="43" name="Text 41"/>
          <p:cNvSpPr/>
          <p:nvPr/>
        </p:nvSpPr>
        <p:spPr>
          <a:xfrm>
            <a:off x="9555480" y="384048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STP/PVST+ for loop prevention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92240" y="4626864"/>
            <a:ext cx="2423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01968" y="473659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01968" y="4736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16" dirty="0"/>
          </a:p>
        </p:txBody>
      </p:sp>
      <p:sp>
        <p:nvSpPr>
          <p:cNvPr id="47" name="Text 45"/>
          <p:cNvSpPr/>
          <p:nvPr/>
        </p:nvSpPr>
        <p:spPr>
          <a:xfrm>
            <a:off x="6949440" y="468172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DHCP for automatic addressing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098280" y="4626864"/>
            <a:ext cx="2423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208008" y="473659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08008" y="4736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16" dirty="0"/>
          </a:p>
        </p:txBody>
      </p:sp>
      <p:sp>
        <p:nvSpPr>
          <p:cNvPr id="51" name="Text 49"/>
          <p:cNvSpPr/>
          <p:nvPr/>
        </p:nvSpPr>
        <p:spPr>
          <a:xfrm>
            <a:off x="9555480" y="468172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SSH for secure management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492240" y="5468112"/>
            <a:ext cx="2423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01968" y="557784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01968" y="5577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16" dirty="0"/>
          </a:p>
        </p:txBody>
      </p:sp>
      <p:sp>
        <p:nvSpPr>
          <p:cNvPr id="55" name="Text 53"/>
          <p:cNvSpPr/>
          <p:nvPr/>
        </p:nvSpPr>
        <p:spPr>
          <a:xfrm>
            <a:off x="6949440" y="5522976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ACLs for traffic filtering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098280" y="5468112"/>
            <a:ext cx="2423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08008" y="557784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08008" y="5577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16" dirty="0"/>
          </a:p>
        </p:txBody>
      </p:sp>
      <p:sp>
        <p:nvSpPr>
          <p:cNvPr id="59" name="Text 57"/>
          <p:cNvSpPr/>
          <p:nvPr/>
        </p:nvSpPr>
        <p:spPr>
          <a:xfrm>
            <a:off x="9555480" y="5522976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connectivity and redundancy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&amp; LOGICAL DESIGN — CISCO PACKET TRACER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Topology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22476" y="1161288"/>
            <a:ext cx="9144000" cy="4744485"/>
          </a:xfrm>
          <a:prstGeom prst="roundRect">
            <a:avLst>
              <a:gd name="adj" fmla="val 1156"/>
            </a:avLst>
          </a:prstGeom>
          <a:solidFill>
            <a:srgbClr val="E9F0FC"/>
          </a:solidFill>
          <a:ln w="12700">
            <a:solidFill>
              <a:srgbClr val="D6E2F5"/>
            </a:solidFill>
            <a:prstDash val="solid"/>
          </a:ln>
        </p:spPr>
      </p:sp>
      <p:pic>
        <p:nvPicPr>
          <p:cNvPr id="5" name="Image 0" descr="top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636" y="1298448"/>
            <a:ext cx="8869680" cy="4470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69781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R-CAMP1 / R-CAMP2 = core routers  •  DSW1 / DSW2 = 3560-24PS distribution (HSRP + EtherChannel)  •  Floor 1–3 access switches uplink redundantly to both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Flowchart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5400000" algn="bl" rotWithShape="0">
              <a:srgbClr val="5B6B85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1581912"/>
            <a:ext cx="438912" cy="438912"/>
          </a:xfrm>
          <a:prstGeom prst="ellipse">
            <a:avLst/>
          </a:prstGeom>
          <a:solidFill>
            <a:srgbClr val="00C2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581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6" dirty="0"/>
          </a:p>
        </p:txBody>
      </p:sp>
      <p:sp>
        <p:nvSpPr>
          <p:cNvPr id="7" name="Text 5"/>
          <p:cNvSpPr/>
          <p:nvPr/>
        </p:nvSpPr>
        <p:spPr>
          <a:xfrm>
            <a:off x="704088" y="219456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5400000">
            <a:off x="2679192" y="2249424"/>
            <a:ext cx="164592" cy="164592"/>
          </a:xfrm>
          <a:prstGeom prst="triangl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43784" y="141732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5400000" algn="bl" rotWithShape="0">
              <a:srgbClr val="5B6B85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66744" y="1581912"/>
            <a:ext cx="438912" cy="438912"/>
          </a:xfrm>
          <a:prstGeom prst="ellipse">
            <a:avLst/>
          </a:prstGeom>
          <a:solidFill>
            <a:srgbClr val="00C2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6744" y="1581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6" dirty="0"/>
          </a:p>
        </p:txBody>
      </p:sp>
      <p:sp>
        <p:nvSpPr>
          <p:cNvPr id="12" name="Text 10"/>
          <p:cNvSpPr/>
          <p:nvPr/>
        </p:nvSpPr>
        <p:spPr>
          <a:xfrm>
            <a:off x="2953512" y="219456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Topology Design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928616" y="2249424"/>
            <a:ext cx="164592" cy="164592"/>
          </a:xfrm>
          <a:prstGeom prst="triangl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93208" y="141732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5400000" algn="bl" rotWithShape="0">
              <a:srgbClr val="5B6B85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16168" y="1581912"/>
            <a:ext cx="438912" cy="438912"/>
          </a:xfrm>
          <a:prstGeom prst="ellipse">
            <a:avLst/>
          </a:prstGeom>
          <a:solidFill>
            <a:srgbClr val="00C2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16168" y="1581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6" dirty="0"/>
          </a:p>
        </p:txBody>
      </p:sp>
      <p:sp>
        <p:nvSpPr>
          <p:cNvPr id="17" name="Text 15"/>
          <p:cNvSpPr/>
          <p:nvPr/>
        </p:nvSpPr>
        <p:spPr>
          <a:xfrm>
            <a:off x="5202936" y="219456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&amp; Switch Configuration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5400000">
            <a:off x="7178040" y="2249424"/>
            <a:ext cx="164592" cy="164592"/>
          </a:xfrm>
          <a:prstGeom prst="triangl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42632" y="141732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5400000" algn="bl" rotWithShape="0">
              <a:srgbClr val="5B6B85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65592" y="1581912"/>
            <a:ext cx="438912" cy="438912"/>
          </a:xfrm>
          <a:prstGeom prst="ellipse">
            <a:avLst/>
          </a:prstGeom>
          <a:solidFill>
            <a:srgbClr val="00C2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65592" y="1581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6" dirty="0"/>
          </a:p>
        </p:txBody>
      </p:sp>
      <p:sp>
        <p:nvSpPr>
          <p:cNvPr id="22" name="Text 20"/>
          <p:cNvSpPr/>
          <p:nvPr/>
        </p:nvSpPr>
        <p:spPr>
          <a:xfrm>
            <a:off x="7452360" y="219456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&amp; IP Addressing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rot="5400000">
            <a:off x="9427464" y="2249424"/>
            <a:ext cx="164592" cy="164592"/>
          </a:xfrm>
          <a:prstGeom prst="triangl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92056" y="141732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5400000" algn="bl" rotWithShape="0">
              <a:srgbClr val="5B6B85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415016" y="1581912"/>
            <a:ext cx="438912" cy="438912"/>
          </a:xfrm>
          <a:prstGeom prst="ellipse">
            <a:avLst/>
          </a:prstGeom>
          <a:solidFill>
            <a:srgbClr val="00C2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15016" y="1581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6" dirty="0"/>
          </a:p>
        </p:txBody>
      </p:sp>
      <p:sp>
        <p:nvSpPr>
          <p:cNvPr id="27" name="Text 25"/>
          <p:cNvSpPr/>
          <p:nvPr/>
        </p:nvSpPr>
        <p:spPr>
          <a:xfrm>
            <a:off x="9701784" y="219456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HSRP + OSPF + EtherChannel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374904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203A85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5400000" algn="bl" rotWithShape="0">
              <a:srgbClr val="5B6B85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417320" y="3913632"/>
            <a:ext cx="438912" cy="438912"/>
          </a:xfrm>
          <a:prstGeom prst="ellipse">
            <a:avLst/>
          </a:prstGeom>
          <a:solidFill>
            <a:srgbClr val="00C2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3913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6" dirty="0"/>
          </a:p>
        </p:txBody>
      </p:sp>
      <p:sp>
        <p:nvSpPr>
          <p:cNvPr id="31" name="Text 29"/>
          <p:cNvSpPr/>
          <p:nvPr/>
        </p:nvSpPr>
        <p:spPr>
          <a:xfrm>
            <a:off x="704088" y="452628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&amp; SSH Security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 rot="5400000">
            <a:off x="2679192" y="4581144"/>
            <a:ext cx="164592" cy="164592"/>
          </a:xfrm>
          <a:prstGeom prst="triangl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43784" y="374904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203A85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5400000" algn="bl" rotWithShape="0">
              <a:srgbClr val="5B6B85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66744" y="3913632"/>
            <a:ext cx="438912" cy="438912"/>
          </a:xfrm>
          <a:prstGeom prst="ellipse">
            <a:avLst/>
          </a:prstGeom>
          <a:solidFill>
            <a:srgbClr val="00C2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66744" y="3913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6" dirty="0"/>
          </a:p>
        </p:txBody>
      </p:sp>
      <p:sp>
        <p:nvSpPr>
          <p:cNvPr id="36" name="Text 34"/>
          <p:cNvSpPr/>
          <p:nvPr/>
        </p:nvSpPr>
        <p:spPr>
          <a:xfrm>
            <a:off x="2953512" y="452628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Implementation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 rot="5400000">
            <a:off x="4928616" y="4581144"/>
            <a:ext cx="164592" cy="164592"/>
          </a:xfrm>
          <a:prstGeom prst="triangl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93208" y="374904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203A85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5400000" algn="bl" rotWithShape="0">
              <a:srgbClr val="5B6B85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916168" y="3913632"/>
            <a:ext cx="438912" cy="438912"/>
          </a:xfrm>
          <a:prstGeom prst="ellipse">
            <a:avLst/>
          </a:prstGeom>
          <a:solidFill>
            <a:srgbClr val="00C2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16168" y="3913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6" dirty="0"/>
          </a:p>
        </p:txBody>
      </p:sp>
      <p:sp>
        <p:nvSpPr>
          <p:cNvPr id="41" name="Text 39"/>
          <p:cNvSpPr/>
          <p:nvPr/>
        </p:nvSpPr>
        <p:spPr>
          <a:xfrm>
            <a:off x="5202936" y="452628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&amp; Network Testing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 rot="5400000">
            <a:off x="7178040" y="4581144"/>
            <a:ext cx="164592" cy="164592"/>
          </a:xfrm>
          <a:prstGeom prst="triangl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42632" y="374904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203A85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5400000" algn="bl" rotWithShape="0">
              <a:srgbClr val="5B6B85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165592" y="3913632"/>
            <a:ext cx="438912" cy="438912"/>
          </a:xfrm>
          <a:prstGeom prst="ellipse">
            <a:avLst/>
          </a:prstGeom>
          <a:solidFill>
            <a:srgbClr val="00C2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65592" y="3913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6" dirty="0"/>
          </a:p>
        </p:txBody>
      </p:sp>
      <p:sp>
        <p:nvSpPr>
          <p:cNvPr id="46" name="Text 44"/>
          <p:cNvSpPr/>
          <p:nvPr/>
        </p:nvSpPr>
        <p:spPr>
          <a:xfrm>
            <a:off x="7452360" y="452628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&amp; Verification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 rot="5400000">
            <a:off x="9427464" y="4581144"/>
            <a:ext cx="164592" cy="164592"/>
          </a:xfrm>
          <a:prstGeom prst="triangl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592056" y="374904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203A85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5400000" algn="bl" rotWithShape="0">
              <a:srgbClr val="5B6B85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0415016" y="3913632"/>
            <a:ext cx="438912" cy="438912"/>
          </a:xfrm>
          <a:prstGeom prst="ellipse">
            <a:avLst/>
          </a:prstGeom>
          <a:solidFill>
            <a:srgbClr val="00C2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415016" y="3913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6" dirty="0"/>
          </a:p>
        </p:txBody>
      </p:sp>
      <p:sp>
        <p:nvSpPr>
          <p:cNvPr id="51" name="Text 49"/>
          <p:cNvSpPr/>
          <p:nvPr/>
        </p:nvSpPr>
        <p:spPr>
          <a:xfrm>
            <a:off x="9701784" y="452628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Secure &amp; Redundant Network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0634472" y="3291840"/>
            <a:ext cx="914" cy="205740"/>
          </a:xfrm>
          <a:prstGeom prst="line">
            <a:avLst/>
          </a:prstGeom>
          <a:noFill/>
          <a:ln w="19050">
            <a:solidFill>
              <a:srgbClr val="00C2A8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1636776" y="3497580"/>
            <a:ext cx="8997696" cy="914"/>
          </a:xfrm>
          <a:prstGeom prst="line">
            <a:avLst/>
          </a:prstGeom>
          <a:noFill/>
          <a:ln w="19050">
            <a:solidFill>
              <a:srgbClr val="00C2A8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1636776" y="3497580"/>
            <a:ext cx="914" cy="205740"/>
          </a:xfrm>
          <a:prstGeom prst="line">
            <a:avLst/>
          </a:prstGeom>
          <a:noFill/>
          <a:ln w="19050">
            <a:solidFill>
              <a:srgbClr val="00C2A8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 rot="10800000">
            <a:off x="1554480" y="3630168"/>
            <a:ext cx="164592" cy="164592"/>
          </a:xfrm>
          <a:prstGeom prst="triangl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/ LAYER 3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VLAN &amp; IP Addressing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42062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10.10.10.0/24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10.10.10.1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10.10.20.0/24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10.10.20.1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10.10.30.0/24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10.10.30.1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10.10.40.0/24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10.10.40.1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10.10.50.0/24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10.10.50.1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10.10.60.0/24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10.10.60.1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10.10.99.0/24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10.10.99.1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371600"/>
            <a:ext cx="3867912" cy="4206240"/>
          </a:xfrm>
          <a:prstGeom prst="roundRect">
            <a:avLst>
              <a:gd name="adj" fmla="val 1418"/>
            </a:avLst>
          </a:prstGeom>
          <a:solidFill>
            <a:srgbClr val="E9F0FC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8001000" y="1536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Notes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001000" y="2139696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0456" y="1984248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segmentation isolates department traffic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01000" y="2798064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0456" y="2642616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broadcast domains per VLAN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01000" y="3456432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0456" y="330098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Department-level traffic isolation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01000" y="4114800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395935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SVI-based gateways on the distribution switches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01000" y="4773168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0456" y="461772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centrally-managed IP addressing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RESILIENCE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Layer &amp; STP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2880360"/>
          </a:xfrm>
          <a:prstGeom prst="roundRect">
            <a:avLst>
              <a:gd name="adj" fmla="val 1905"/>
            </a:avLst>
          </a:prstGeom>
          <a:solidFill>
            <a:srgbClr val="203A85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361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DSW1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Distribution Switch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500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232257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Root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852928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072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" y="277977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HSRP Active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310128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644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" y="323697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Layer-3 routing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767328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216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69417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gateways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51960" y="1371600"/>
            <a:ext cx="3520440" cy="2880360"/>
          </a:xfrm>
          <a:prstGeom prst="roundRect">
            <a:avLst>
              <a:gd name="adj" fmla="val 1905"/>
            </a:avLst>
          </a:prstGeom>
          <a:solidFill>
            <a:srgbClr val="2C4499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15361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DSW2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26280" y="19476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Distribution Switch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26280" y="2395728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23500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18888" y="232257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Secondary Root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26280" y="2852928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28072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18888" y="277977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HSRP Standby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26280" y="3310128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32644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18888" y="323697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Layer-3 routing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26280" y="3767328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37216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18888" y="369417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gateways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38160" y="1371600"/>
            <a:ext cx="3502152" cy="2880360"/>
          </a:xfrm>
          <a:prstGeom prst="roundRect">
            <a:avLst>
              <a:gd name="adj" fmla="val 1905"/>
            </a:avLst>
          </a:prstGeom>
          <a:solidFill>
            <a:srgbClr val="E9F0FC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1536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STP / PVST+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66760" y="2093976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86216" y="193852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Layer-2 loops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366760" y="2532888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86216" y="237744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forwarding paths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366760" y="2971800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86216" y="2816352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backup paths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366760" y="3410712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86216" y="3255264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DSW1 = primary root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480560"/>
            <a:ext cx="11091672" cy="1920240"/>
          </a:xfrm>
          <a:prstGeom prst="roundRect">
            <a:avLst>
              <a:gd name="adj" fmla="val 2857"/>
            </a:avLst>
          </a:prstGeom>
          <a:solidFill>
            <a:srgbClr val="F7F9FD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4590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STP Path Illustration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880360" y="507492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5B6B85">
                <a:alpha val="2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880360" y="5115154"/>
            <a:ext cx="118872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DSW1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880360" y="535152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Bridge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257800" y="507492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203A85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5B6B85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257800" y="5115154"/>
            <a:ext cx="118872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DSW2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257800" y="535152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Alt. Bridge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097280" y="608076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0C2A8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5B6B85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097280" y="6117336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ASW1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297680" y="608076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0C2A8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5B6B85">
                <a:alpha val="2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297680" y="6117336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ASW2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675120" y="608076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0C2A8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5B6B85">
                <a:alpha val="2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675120" y="6117336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ASW3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474720" y="5577840"/>
            <a:ext cx="2377440" cy="914"/>
          </a:xfrm>
          <a:prstGeom prst="line">
            <a:avLst/>
          </a:prstGeom>
          <a:noFill/>
          <a:ln w="31750">
            <a:solidFill>
              <a:srgbClr val="00C2A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2194560" y="5577840"/>
            <a:ext cx="1280160" cy="502920"/>
          </a:xfrm>
          <a:prstGeom prst="line">
            <a:avLst/>
          </a:prstGeom>
          <a:noFill/>
          <a:ln w="19050">
            <a:solidFill>
              <a:srgbClr val="5B6B8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474720" y="5577840"/>
            <a:ext cx="1371600" cy="502920"/>
          </a:xfrm>
          <a:prstGeom prst="line">
            <a:avLst/>
          </a:prstGeom>
          <a:noFill/>
          <a:ln w="19050">
            <a:solidFill>
              <a:srgbClr val="5B6B85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 flipV="1">
            <a:off x="4846320" y="5577840"/>
            <a:ext cx="1005840" cy="502920"/>
          </a:xfrm>
          <a:prstGeom prst="line">
            <a:avLst/>
          </a:prstGeom>
          <a:noFill/>
          <a:ln w="19050">
            <a:solidFill>
              <a:srgbClr val="5B6B8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52160" y="5577840"/>
            <a:ext cx="822960" cy="502920"/>
          </a:xfrm>
          <a:prstGeom prst="line">
            <a:avLst/>
          </a:prstGeom>
          <a:noFill/>
          <a:ln w="19050">
            <a:solidFill>
              <a:srgbClr val="5B6B8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72400" y="5989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link = blocked (backup) path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AGGREGATION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EtherChannel / LACP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309360" cy="3017520"/>
          </a:xfrm>
          <a:prstGeom prst="roundRect">
            <a:avLst>
              <a:gd name="adj" fmla="val 1818"/>
            </a:avLst>
          </a:prstGeom>
          <a:solidFill>
            <a:srgbClr val="E9F0FC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093976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1938528"/>
            <a:ext cx="5541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LACP is used for link aggregation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624328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468880"/>
            <a:ext cx="5541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physical links act as one logical link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154680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999232"/>
            <a:ext cx="5541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redundancy across the DSW1–DSW2 link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685032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3529584"/>
            <a:ext cx="5541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higher aggregate bandwidth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215384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4059936"/>
            <a:ext cx="5541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dependence on a single physical link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6309360" cy="18288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7091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etherchannel summary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Po1(SU)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Gi0/1(P)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Gi0/2(P)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86600" y="1371600"/>
            <a:ext cx="4553712" cy="5029200"/>
          </a:xfrm>
          <a:prstGeom prst="roundRect">
            <a:avLst>
              <a:gd name="adj" fmla="val 1205"/>
            </a:avLst>
          </a:prstGeom>
          <a:solidFill>
            <a:srgbClr val="F7F9FD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536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Link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06640" y="246888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5B6B85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06640" y="2512771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DSW1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332720" y="246888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203A85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5B6B85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332720" y="2512771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DSW2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61120" y="2606040"/>
            <a:ext cx="1371600" cy="914"/>
          </a:xfrm>
          <a:prstGeom prst="line">
            <a:avLst/>
          </a:prstGeom>
          <a:noFill/>
          <a:ln w="38100">
            <a:solidFill>
              <a:srgbClr val="00C2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0" y="2880360"/>
            <a:ext cx="1371600" cy="914"/>
          </a:xfrm>
          <a:prstGeom prst="line">
            <a:avLst/>
          </a:prstGeom>
          <a:noFill/>
          <a:ln w="38100">
            <a:solidFill>
              <a:srgbClr val="00C2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06840" y="306324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06840" y="3063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Port-Channel 1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315200" y="3794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Gi0/1 &amp; Gi0/2 bundled into one logical link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0" y="4343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315200" y="4846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Links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778240" y="4343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778240" y="4846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Link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241280" y="4343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LACP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10241280" y="4846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Used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REDUNDANCY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HSRP &amp; Inter-VLAN Routing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5029200"/>
          </a:xfrm>
          <a:prstGeom prst="roundRect">
            <a:avLst>
              <a:gd name="adj" fmla="val 1091"/>
            </a:avLst>
          </a:prstGeom>
          <a:solidFill>
            <a:srgbClr val="E9F0FC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Inter-VLAN Routing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048256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1892808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Layer-3 switches use SVIs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551176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395728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VLAN has a default gateway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054096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898648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VLANs communicate through the distribution layer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3703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HSRP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197096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041648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virtual default gateway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700016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544568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DSW1 = Active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5202936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5047488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DSW2 = Standby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705856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5550408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devices keep using the same virtual gateway during failure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1371600"/>
            <a:ext cx="5422392" cy="5029200"/>
          </a:xfrm>
          <a:prstGeom prst="roundRect">
            <a:avLst>
              <a:gd name="adj" fmla="val 1091"/>
            </a:avLst>
          </a:prstGeom>
          <a:solidFill>
            <a:srgbClr val="F7F9FD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3880" y="1691640"/>
            <a:ext cx="146304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1691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GW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10.10.X.1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 flipV="1">
            <a:off x="7680960" y="2194560"/>
            <a:ext cx="1234440" cy="1005840"/>
          </a:xfrm>
          <a:prstGeom prst="line">
            <a:avLst/>
          </a:prstGeom>
          <a:noFill/>
          <a:ln w="19050">
            <a:solidFill>
              <a:srgbClr val="5B6B8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15400" y="2194560"/>
            <a:ext cx="1234440" cy="1005840"/>
          </a:xfrm>
          <a:prstGeom prst="line">
            <a:avLst/>
          </a:prstGeom>
          <a:noFill/>
          <a:ln w="19050">
            <a:solidFill>
              <a:srgbClr val="5B6B8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0" y="320040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5B6B85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040880" y="3251606"/>
            <a:ext cx="15544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DSW1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35524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(.2)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464040" y="320040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203A85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5B6B85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464040" y="3251606"/>
            <a:ext cx="15544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DSW2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64040" y="35524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Standby (.3)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818120" y="3520440"/>
            <a:ext cx="1645920" cy="914"/>
          </a:xfrm>
          <a:prstGeom prst="line">
            <a:avLst/>
          </a:prstGeom>
          <a:noFill/>
          <a:ln w="31750">
            <a:solidFill>
              <a:srgbClr val="00C2A8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7360920" y="38862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HSRP hello / state sync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46520" y="4160520"/>
            <a:ext cx="4937760" cy="1737360"/>
          </a:xfrm>
          <a:prstGeom prst="roundRect">
            <a:avLst>
              <a:gd name="adj" fmla="val 3158"/>
            </a:avLst>
          </a:prstGeom>
          <a:solidFill>
            <a:srgbClr val="1E2761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42793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standby brief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75120" y="457200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  Grp  Pri  State   Active      Standby</a:t>
            </a:r>
            <a:endParaRPr lang="en-US" sz="9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Vlan10       1   110  Active  local       10.10.10.3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REDUNDANCY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OSPF Dynamic Routing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029200" cy="5029200"/>
          </a:xfrm>
          <a:prstGeom prst="roundRect">
            <a:avLst>
              <a:gd name="adj" fmla="val 1091"/>
            </a:avLst>
          </a:prstGeom>
          <a:solidFill>
            <a:srgbClr val="E9F0FC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Details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048256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1892808"/>
            <a:ext cx="4352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 Process ID: 1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615184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459736"/>
            <a:ext cx="4352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Single-area design — Area 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182112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3026664"/>
            <a:ext cx="4352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ID configured on each device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749040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3593592"/>
            <a:ext cx="4352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route exchange between routers and switches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315968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4160520"/>
            <a:ext cx="4352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Layer-3 paths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882896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4727448"/>
            <a:ext cx="4352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route convergence on failure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806440" y="4709160"/>
            <a:ext cx="5833872" cy="1691640"/>
          </a:xfrm>
          <a:prstGeom prst="roundRect">
            <a:avLst>
              <a:gd name="adj" fmla="val 3243"/>
            </a:avLst>
          </a:prstGeom>
          <a:solidFill>
            <a:srgbClr val="1E2761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48280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ip ospf neighbor  /  show ip route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35040" y="5138928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 ID    State     Dead Time   Interface</a:t>
            </a:r>
            <a:endParaRPr lang="en-US" sz="9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10.10.99.2     FULL/BDR  00:00:38    Gi0/0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06440" y="1371600"/>
            <a:ext cx="5833872" cy="3200400"/>
          </a:xfrm>
          <a:prstGeom prst="roundRect">
            <a:avLst>
              <a:gd name="adj" fmla="val 1714"/>
            </a:avLst>
          </a:prstGeom>
          <a:solidFill>
            <a:srgbClr val="F7F9FD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490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Routed Paths (Area 0)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flipV="1">
            <a:off x="7498080" y="2286000"/>
            <a:ext cx="1097280" cy="548640"/>
          </a:xfrm>
          <a:prstGeom prst="line">
            <a:avLst/>
          </a:prstGeom>
          <a:noFill/>
          <a:ln w="19050">
            <a:solidFill>
              <a:srgbClr val="5B6B8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0" y="2286000"/>
            <a:ext cx="1097280" cy="548640"/>
          </a:xfrm>
          <a:prstGeom prst="line">
            <a:avLst/>
          </a:prstGeom>
          <a:noFill/>
          <a:ln w="19050">
            <a:solidFill>
              <a:srgbClr val="5B6B8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3383280"/>
            <a:ext cx="1097280" cy="502920"/>
          </a:xfrm>
          <a:prstGeom prst="line">
            <a:avLst/>
          </a:prstGeom>
          <a:noFill/>
          <a:ln w="19050">
            <a:solidFill>
              <a:srgbClr val="5B6B8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8869680" y="3383280"/>
            <a:ext cx="1097280" cy="502920"/>
          </a:xfrm>
          <a:prstGeom prst="line">
            <a:avLst/>
          </a:prstGeom>
          <a:noFill/>
          <a:ln w="19050">
            <a:solidFill>
              <a:srgbClr val="5B6B8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108960"/>
            <a:ext cx="1097280" cy="914"/>
          </a:xfrm>
          <a:prstGeom prst="line">
            <a:avLst/>
          </a:prstGeom>
          <a:noFill/>
          <a:ln w="31750">
            <a:solidFill>
              <a:srgbClr val="00C2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92440" y="173736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5B6B85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092440" y="1781251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R-CAMP1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92440" y="388620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5B6B85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092440" y="3930091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R-CAMP2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0" y="283464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203A85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5B6B85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58000" y="2878531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DSW1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326880" y="283464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203A85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5B6B85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326880" y="2878531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DSW2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ADDRESSING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DHCP Implementation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480560" cy="5029200"/>
          </a:xfrm>
          <a:prstGeom prst="roundRect">
            <a:avLst>
              <a:gd name="adj" fmla="val 1224"/>
            </a:avLst>
          </a:prstGeom>
          <a:solidFill>
            <a:srgbClr val="F7F9FD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Request 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1874520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87452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88720" y="2295144"/>
            <a:ext cx="3200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A8"/>
                </a:solidFill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88720" y="2414016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203A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41401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Switch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88720" y="2834640"/>
            <a:ext cx="3200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A8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88720" y="2953512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95351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DSW SVI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88720" y="3374136"/>
            <a:ext cx="3200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A8"/>
                </a:solidFill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88720" y="3493008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203A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349300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Relay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88720" y="3913632"/>
            <a:ext cx="3200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A8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88720" y="4032504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403250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R-CAMP1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88720" y="4453128"/>
            <a:ext cx="3200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A8"/>
                </a:solidFill>
              </a:rPr>
              <a:t>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88720" y="4572000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203A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45720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Pool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88720" y="4992624"/>
            <a:ext cx="3200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A8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88720" y="5111496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511149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Assigned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257800" y="1371600"/>
            <a:ext cx="6382512" cy="3246120"/>
          </a:xfrm>
          <a:prstGeom prst="roundRect">
            <a:avLst>
              <a:gd name="adj" fmla="val 1690"/>
            </a:avLst>
          </a:prstGeom>
          <a:solidFill>
            <a:srgbClr val="E9F0FC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53619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Highlights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532120" y="2093976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51576" y="1938528"/>
            <a:ext cx="572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DHCP pools defined for each VLAN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532120" y="2569464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51576" y="2414016"/>
            <a:ext cx="572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IP address assignment to end devices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532120" y="3044952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51576" y="2889504"/>
            <a:ext cx="572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gateway distributed via DHCP options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532120" y="3520440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51576" y="3364992"/>
            <a:ext cx="572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server configuration included in each pool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532120" y="3995928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51576" y="3840480"/>
            <a:ext cx="572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relay using ip helper-address on router SVIs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532120" y="4471416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51576" y="4315968"/>
            <a:ext cx="572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bindings verified successfully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257800" y="4800600"/>
            <a:ext cx="6382512" cy="1600200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49377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ip dhcp binding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0" y="52578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address       Client-ID/Hw addr   Lease expiration</a:t>
            </a:r>
            <a:endParaRPr lang="en-US" sz="9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10.10.10.10      0100.5079.6684.1a   Automatic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THE CAMPUS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Security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724912" cy="3200400"/>
          </a:xfrm>
          <a:prstGeom prst="roundRect">
            <a:avLst>
              <a:gd name="adj" fmla="val 2013"/>
            </a:avLst>
          </a:prstGeom>
          <a:solidFill>
            <a:srgbClr val="E9F0FC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18488" y="1691640"/>
            <a:ext cx="585216" cy="585216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18488" y="1691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8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301752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remote management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358444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version 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4151376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authentication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38144" y="1463040"/>
            <a:ext cx="2724912" cy="3200400"/>
          </a:xfrm>
          <a:prstGeom prst="roundRect">
            <a:avLst>
              <a:gd name="adj" fmla="val 2013"/>
            </a:avLst>
          </a:prstGeom>
          <a:solidFill>
            <a:srgbClr val="F3F7FE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07992" y="1691640"/>
            <a:ext cx="585216" cy="585216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1691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8" dirty="0"/>
          </a:p>
        </p:txBody>
      </p:sp>
      <p:sp>
        <p:nvSpPr>
          <p:cNvPr id="14" name="Text 12"/>
          <p:cNvSpPr/>
          <p:nvPr/>
        </p:nvSpPr>
        <p:spPr>
          <a:xfrm>
            <a:off x="3575304" y="237744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39312" y="301752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permitted/denied traffic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39312" y="358444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unauthorized communication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39312" y="4151376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traffic filtering policies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27648" y="1463040"/>
            <a:ext cx="2724912" cy="3200400"/>
          </a:xfrm>
          <a:prstGeom prst="roundRect">
            <a:avLst>
              <a:gd name="adj" fmla="val 2013"/>
            </a:avLst>
          </a:prstGeom>
          <a:solidFill>
            <a:srgbClr val="E9F0FC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97496" y="1691640"/>
            <a:ext cx="585216" cy="585216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97496" y="1691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8" dirty="0"/>
          </a:p>
        </p:txBody>
      </p:sp>
      <p:sp>
        <p:nvSpPr>
          <p:cNvPr id="21" name="Text 19"/>
          <p:cNvSpPr/>
          <p:nvPr/>
        </p:nvSpPr>
        <p:spPr>
          <a:xfrm>
            <a:off x="6464808" y="237744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Security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528816" y="301752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MAC addresses per port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28816" y="358444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MAC learning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28816" y="4151376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access ports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217152" y="1463040"/>
            <a:ext cx="2724912" cy="3200400"/>
          </a:xfrm>
          <a:prstGeom prst="roundRect">
            <a:avLst>
              <a:gd name="adj" fmla="val 2013"/>
            </a:avLst>
          </a:prstGeom>
          <a:solidFill>
            <a:srgbClr val="F3F7FE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1691640"/>
            <a:ext cx="585216" cy="585216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87000" y="1691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8" dirty="0"/>
          </a:p>
        </p:txBody>
      </p:sp>
      <p:sp>
        <p:nvSpPr>
          <p:cNvPr id="28" name="Text 26"/>
          <p:cNvSpPr/>
          <p:nvPr/>
        </p:nvSpPr>
        <p:spPr>
          <a:xfrm>
            <a:off x="9354312" y="237744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PortFast + BPDU Guard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418320" y="301752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endpoint connectivity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418320" y="358444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ports from unexpected BPDUs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" y="5193792"/>
            <a:ext cx="457200" cy="457200"/>
          </a:xfrm>
          <a:prstGeom prst="ellipse">
            <a:avLst/>
          </a:prstGeom>
          <a:solidFill>
            <a:srgbClr val="00C2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463040" y="4892040"/>
            <a:ext cx="9875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ACL implementation has been completed and verified.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 &amp; Network Testing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50292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5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connectivity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Traceroute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verification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verification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configuration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Trunk verification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transport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EtherChannel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aggregation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HSRP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redundancy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OSPF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adjacency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DHCP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assignment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filtering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IMPLEMENTATION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 &amp; Challenges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724912" cy="4480560"/>
          </a:xfrm>
          <a:prstGeom prst="roundRect">
            <a:avLst>
              <a:gd name="adj" fmla="val 2013"/>
            </a:avLst>
          </a:prstGeom>
          <a:solidFill>
            <a:srgbClr val="E9F0FC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0876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1 — Trunk Configuration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" y="2194560"/>
            <a:ext cx="239572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6771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48716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 command rejected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13232" y="3246120"/>
            <a:ext cx="239572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1927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53872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was Auto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13232" y="4297680"/>
            <a:ext cx="239572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37083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2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802.1Q encapsulation before trunk mode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38144" y="1371600"/>
            <a:ext cx="2724912" cy="4480560"/>
          </a:xfrm>
          <a:prstGeom prst="roundRect">
            <a:avLst>
              <a:gd name="adj" fmla="val 2013"/>
            </a:avLst>
          </a:prstGeom>
          <a:solidFill>
            <a:srgbClr val="F3F7FE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150876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2 — R-CAMP2 Connectivity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02736" y="2194560"/>
            <a:ext cx="239572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2464" y="226771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12464" y="248716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link was not functioning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02736" y="3246120"/>
            <a:ext cx="239572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331927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12464" y="353872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Incorrect/missing /30 addressing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02736" y="4297680"/>
            <a:ext cx="239572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12464" y="437083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2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12464" y="459028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interface IP configuration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27648" y="1371600"/>
            <a:ext cx="2724912" cy="4480560"/>
          </a:xfrm>
          <a:prstGeom prst="roundRect">
            <a:avLst>
              <a:gd name="adj" fmla="val 2013"/>
            </a:avLst>
          </a:prstGeom>
          <a:solidFill>
            <a:srgbClr val="E9F0FC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150876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3 — Duplicate Transit IP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92240" y="2194560"/>
            <a:ext cx="239572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01968" y="226771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01968" y="248716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IP addressing on a transit interface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92240" y="3246120"/>
            <a:ext cx="239572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01968" y="331927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01968" y="353872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Misconfigured DSW1 transit address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92240" y="4297680"/>
            <a:ext cx="239572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01968" y="437083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2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601968" y="459028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DSW1 transit address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217152" y="1371600"/>
            <a:ext cx="2724912" cy="4480560"/>
          </a:xfrm>
          <a:prstGeom prst="roundRect">
            <a:avLst>
              <a:gd name="adj" fmla="val 2013"/>
            </a:avLst>
          </a:prstGeom>
          <a:solidFill>
            <a:srgbClr val="F3F7FE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81744" y="150876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4 — OSPF Neighbor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381744" y="2194560"/>
            <a:ext cx="239572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91472" y="226771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491472" y="248716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 adjacency was not established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381744" y="3246120"/>
            <a:ext cx="239572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91472" y="331927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491472" y="353872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/ addressing mismatch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381744" y="4297680"/>
            <a:ext cx="239572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91472" y="437083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2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491472" y="459028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interface status, IP addressing and OSPF configuration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→  Cause  →  Solution  →  Verification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&amp; Final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223760" cy="3977640"/>
          </a:xfrm>
          <a:prstGeom prst="roundRect">
            <a:avLst>
              <a:gd name="adj" fmla="val 1379"/>
            </a:avLst>
          </a:prstGeom>
          <a:solidFill>
            <a:srgbClr val="E9F0FC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Components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029968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8424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61288" y="195681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029968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98424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81728" y="195681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2532888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4871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61288" y="245973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/ PVST+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89120" y="2532888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4871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81728" y="245973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EtherChannel / LACP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3035808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99008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61288" y="296265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89120" y="3035808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299008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81728" y="296265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Inter-VLAN Routing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68680" y="3538728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4930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61288" y="346557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389120" y="3538728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34930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81728" y="346557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68680" y="4041648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39959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61288" y="396849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389120" y="4041648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0" y="39959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81728" y="396849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68680" y="4544568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449884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61288" y="447141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Security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389120" y="4544568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0" y="449884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81728" y="447141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PortFast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68680" y="5047488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" y="50017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61288" y="497433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BPDU Guard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4389120" y="5047488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0" y="50017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681728" y="497433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Connectivity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7955280" y="1371600"/>
            <a:ext cx="3685032" cy="3977640"/>
          </a:xfrm>
          <a:prstGeom prst="roundRect">
            <a:avLst>
              <a:gd name="adj" fmla="val 1489"/>
            </a:avLst>
          </a:prstGeom>
          <a:solidFill>
            <a:srgbClr val="1E2761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83880" y="1536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8183880" y="196596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implemented network provides segmentation, redundancy, dynamic routing, secure management and traffic control.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7F9FD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important Packet Tracer command-output screenshots here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320040"/>
            <a:ext cx="822960" cy="320040"/>
          </a:xfrm>
          <a:prstGeom prst="line">
            <a:avLst/>
          </a:prstGeom>
          <a:noFill/>
          <a:ln w="15875">
            <a:solidFill>
              <a:srgbClr val="3140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11064240" y="640080"/>
            <a:ext cx="365760" cy="548640"/>
          </a:xfrm>
          <a:prstGeom prst="line">
            <a:avLst/>
          </a:prstGeom>
          <a:noFill/>
          <a:ln w="15875">
            <a:solidFill>
              <a:srgbClr val="3140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320040"/>
            <a:ext cx="1280160" cy="685800"/>
          </a:xfrm>
          <a:prstGeom prst="line">
            <a:avLst/>
          </a:prstGeom>
          <a:noFill/>
          <a:ln w="15875">
            <a:solidFill>
              <a:srgbClr val="3140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0" y="640080"/>
            <a:ext cx="457200" cy="365760"/>
          </a:xfrm>
          <a:prstGeom prst="line">
            <a:avLst/>
          </a:prstGeom>
          <a:noFill/>
          <a:ln w="15875">
            <a:solidFill>
              <a:srgbClr val="3140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61320" y="274320"/>
            <a:ext cx="91440" cy="914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84280" y="594360"/>
            <a:ext cx="91440" cy="914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18520" y="1143000"/>
            <a:ext cx="91440" cy="914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41480" y="960120"/>
            <a:ext cx="91440" cy="914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Secure + Redundant + Segmented + Dynamically Routed Enterprise Campus Network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1234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and verified using Cisco Packet Tracer.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627632"/>
            <a:ext cx="5623560" cy="4160520"/>
          </a:xfrm>
          <a:prstGeom prst="roundRect">
            <a:avLst>
              <a:gd name="adj" fmla="val 1319"/>
            </a:avLst>
          </a:prstGeom>
          <a:solidFill>
            <a:srgbClr val="162055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17739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Achievements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8680" y="2212848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1671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61288" y="2139696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Department-based VLAN segmentation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8680" y="2574036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52831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61288" y="2500884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gateway using HSRP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2935224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288950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61288" y="2862072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routing using OSPF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68680" y="3296412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2506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61288" y="3223260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aggregation (EtherChannel/LACP)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68680" y="3657600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6118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61288" y="3584448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Layer-2 loop prevention via STP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68680" y="4018788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39730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61288" y="3945636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DHCP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4379976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433425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61288" y="4306824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SSH management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68680" y="4741164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469544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61288" y="4668012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ACL-based traffic control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68680" y="5102352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505663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61288" y="5029200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Access-layer port security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68680" y="5463540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" y="54178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61288" y="5390388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connectivity verified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55080" y="1627632"/>
            <a:ext cx="5285232" cy="4160520"/>
          </a:xfrm>
          <a:prstGeom prst="roundRect">
            <a:avLst>
              <a:gd name="adj" fmla="val 1319"/>
            </a:avLst>
          </a:prstGeom>
          <a:solidFill>
            <a:srgbClr val="162055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17739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675120" y="2276856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94576" y="2121408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monitoring using SNMP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75120" y="2679192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94576" y="2523744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Syslog-based centralized logging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675120" y="3081528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4576" y="2926080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automation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675120" y="3483864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94576" y="3328416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implementation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675120" y="3886200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94576" y="3730752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integration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675120" y="4288536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94576" y="4133088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ACL policies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675120" y="4690872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94576" y="4535424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/ IDS integration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675120" y="5093208"/>
            <a:ext cx="82296" cy="822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94576" y="4937760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Real-device deployment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4EACDC-BDFD-5721-2FFC-30452D7C9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0548AA-D6AA-647F-281F-A03995B39303}"/>
              </a:ext>
            </a:extLst>
          </p:cNvPr>
          <p:cNvSpPr/>
          <p:nvPr/>
        </p:nvSpPr>
        <p:spPr>
          <a:xfrm>
            <a:off x="10607040" y="320040"/>
            <a:ext cx="822960" cy="320040"/>
          </a:xfrm>
          <a:prstGeom prst="line">
            <a:avLst/>
          </a:prstGeom>
          <a:noFill/>
          <a:ln w="15875">
            <a:solidFill>
              <a:srgbClr val="31407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9200DEC-F455-1FC1-0397-4F6BF4195122}"/>
              </a:ext>
            </a:extLst>
          </p:cNvPr>
          <p:cNvSpPr/>
          <p:nvPr/>
        </p:nvSpPr>
        <p:spPr>
          <a:xfrm flipV="1">
            <a:off x="11064240" y="640080"/>
            <a:ext cx="365760" cy="548640"/>
          </a:xfrm>
          <a:prstGeom prst="line">
            <a:avLst/>
          </a:prstGeom>
          <a:noFill/>
          <a:ln w="15875">
            <a:solidFill>
              <a:srgbClr val="31407A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98834B5-E38F-3250-AAA6-F4ECB606622E}"/>
              </a:ext>
            </a:extLst>
          </p:cNvPr>
          <p:cNvSpPr/>
          <p:nvPr/>
        </p:nvSpPr>
        <p:spPr>
          <a:xfrm>
            <a:off x="10607040" y="320040"/>
            <a:ext cx="1280160" cy="685800"/>
          </a:xfrm>
          <a:prstGeom prst="line">
            <a:avLst/>
          </a:prstGeom>
          <a:noFill/>
          <a:ln w="15875">
            <a:solidFill>
              <a:srgbClr val="31407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918CE26-3618-4A04-BF4B-29AD561F5A35}"/>
              </a:ext>
            </a:extLst>
          </p:cNvPr>
          <p:cNvSpPr/>
          <p:nvPr/>
        </p:nvSpPr>
        <p:spPr>
          <a:xfrm>
            <a:off x="10561320" y="274320"/>
            <a:ext cx="91440" cy="914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335A343-D559-54B5-01DF-DE3E7C2D0DD0}"/>
              </a:ext>
            </a:extLst>
          </p:cNvPr>
          <p:cNvSpPr/>
          <p:nvPr/>
        </p:nvSpPr>
        <p:spPr>
          <a:xfrm>
            <a:off x="11384280" y="594360"/>
            <a:ext cx="91440" cy="914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3E310E7-ECA1-F11E-75BE-D12D42B3C50D}"/>
              </a:ext>
            </a:extLst>
          </p:cNvPr>
          <p:cNvSpPr/>
          <p:nvPr/>
        </p:nvSpPr>
        <p:spPr>
          <a:xfrm>
            <a:off x="11018520" y="1143000"/>
            <a:ext cx="91440" cy="914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73F7D80-3B5F-3652-801E-B51B4673D882}"/>
              </a:ext>
            </a:extLst>
          </p:cNvPr>
          <p:cNvSpPr/>
          <p:nvPr/>
        </p:nvSpPr>
        <p:spPr>
          <a:xfrm>
            <a:off x="11841480" y="960120"/>
            <a:ext cx="91440" cy="914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4A8FC15-22AE-8BCB-0BD4-EABEF5DCF605}"/>
              </a:ext>
            </a:extLst>
          </p:cNvPr>
          <p:cNvSpPr/>
          <p:nvPr/>
        </p:nvSpPr>
        <p:spPr>
          <a:xfrm>
            <a:off x="868680" y="252831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93E27D6-B001-3BD4-FB37-986F7F8FDB6B}"/>
              </a:ext>
            </a:extLst>
          </p:cNvPr>
          <p:cNvSpPr/>
          <p:nvPr/>
        </p:nvSpPr>
        <p:spPr>
          <a:xfrm>
            <a:off x="868680" y="32506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D6D126A-ECF7-0643-0584-FF727B543EC0}"/>
              </a:ext>
            </a:extLst>
          </p:cNvPr>
          <p:cNvSpPr/>
          <p:nvPr/>
        </p:nvSpPr>
        <p:spPr>
          <a:xfrm>
            <a:off x="868680" y="36118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EDF32AF-A66D-915C-B36C-B9711A7F517E}"/>
              </a:ext>
            </a:extLst>
          </p:cNvPr>
          <p:cNvSpPr/>
          <p:nvPr/>
        </p:nvSpPr>
        <p:spPr>
          <a:xfrm>
            <a:off x="868680" y="39730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FD9407C-C772-CCEB-CCD9-9430669B9057}"/>
              </a:ext>
            </a:extLst>
          </p:cNvPr>
          <p:cNvSpPr/>
          <p:nvPr/>
        </p:nvSpPr>
        <p:spPr>
          <a:xfrm>
            <a:off x="868680" y="433425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17FD768-AA3B-D9EA-554C-736039DF32A9}"/>
              </a:ext>
            </a:extLst>
          </p:cNvPr>
          <p:cNvSpPr/>
          <p:nvPr/>
        </p:nvSpPr>
        <p:spPr>
          <a:xfrm>
            <a:off x="868680" y="469544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5875C347-122E-5306-3312-F1036EECFC66}"/>
              </a:ext>
            </a:extLst>
          </p:cNvPr>
          <p:cNvSpPr/>
          <p:nvPr/>
        </p:nvSpPr>
        <p:spPr>
          <a:xfrm>
            <a:off x="868680" y="505663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71A7C059-E920-7F62-F0E1-5D5F5CF7CC4D}"/>
              </a:ext>
            </a:extLst>
          </p:cNvPr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9AFE3CC-B5DD-D75F-C0D2-B0C588EABB66}"/>
              </a:ext>
            </a:extLst>
          </p:cNvPr>
          <p:cNvSpPr txBox="1"/>
          <p:nvPr/>
        </p:nvSpPr>
        <p:spPr>
          <a:xfrm>
            <a:off x="4383832" y="2973693"/>
            <a:ext cx="3424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8358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1177</Words>
  <Application>Microsoft Office PowerPoint</Application>
  <PresentationFormat>Widescreen</PresentationFormat>
  <Paragraphs>420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Vaibhav Mule</cp:lastModifiedBy>
  <cp:revision>2</cp:revision>
  <dcterms:created xsi:type="dcterms:W3CDTF">2026-08-16T20:31:15Z</dcterms:created>
  <dcterms:modified xsi:type="dcterms:W3CDTF">2026-08-17T06:12:55Z</dcterms:modified>
</cp:coreProperties>
</file>